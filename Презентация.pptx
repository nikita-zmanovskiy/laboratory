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62" r:id="rId4"/>
    <p:sldId id="266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321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ru-KZ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7FAFC"/>
                </a:solidFill>
                <a:latin typeface="Bahnschrift SemiBold SemiConden" panose="020B0502040204020203" pitchFamily="34" charset="0"/>
                <a:ea typeface="Aptos Display" pitchFamily="34" charset="-122"/>
                <a:cs typeface="Aptos Display" pitchFamily="34" charset="-120"/>
              </a:rPr>
              <a:t>Архитектурные</a:t>
            </a:r>
            <a:r>
              <a:rPr lang="en-US" sz="3000" b="1" dirty="0">
                <a:solidFill>
                  <a:srgbClr val="F7FAFC"/>
                </a:solidFill>
                <a:latin typeface="Bahnschrift SemiBold SemiConden" panose="020B0502040204020203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000" b="1" dirty="0" err="1">
                <a:solidFill>
                  <a:srgbClr val="F7FAFC"/>
                </a:solidFill>
                <a:latin typeface="Bahnschrift SemiBold SemiConden" panose="020B0502040204020203" pitchFamily="34" charset="0"/>
                <a:ea typeface="Aptos Display" pitchFamily="34" charset="-122"/>
                <a:cs typeface="Aptos Display" pitchFamily="34" charset="-120"/>
              </a:rPr>
              <a:t>решения</a:t>
            </a:r>
            <a:endParaRPr lang="en-US" sz="3000" dirty="0">
              <a:latin typeface="Bahnschrift SemiBold SemiConden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2E42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64208"/>
            <a:ext cx="3337560" cy="960120"/>
          </a:xfrm>
          <a:prstGeom prst="rect">
            <a:avLst/>
          </a:prstGeom>
          <a:solidFill>
            <a:srgbClr val="101A2F"/>
          </a:solidFill>
          <a:ln>
            <a:solidFill>
              <a:srgbClr val="32D1FF"/>
            </a:solidFill>
          </a:ln>
        </p:spPr>
        <p:txBody>
          <a:bodyPr wrap="square" lIns="1524" tIns="1524" rIns="1524" bIns="1524" rtlCol="0" anchor="ctr">
            <a:normAutofit fontScale="92500" lnSpcReduction="20000"/>
          </a:bodyPr>
          <a:lstStyle/>
          <a:p>
            <a:pPr algn="ctr"/>
            <a:endParaRPr lang="ru-RU" sz="1700" b="1" dirty="0">
              <a:solidFill>
                <a:srgbClr val="F7FAF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algn="ctr"/>
            <a:r>
              <a:rPr lang="en-US" sz="1700" b="1" dirty="0">
                <a:solidFill>
                  <a:srgbClr val="F7FAFC"/>
                </a:solidFill>
                <a:latin typeface="Bahnschrift SemiBold SemiConden" panose="020B0502040204020203" pitchFamily="34" charset="0"/>
                <a:ea typeface="Aptos" pitchFamily="34" charset="-122"/>
                <a:cs typeface="Aptos" pitchFamily="34" charset="-120"/>
              </a:rPr>
              <a:t>XSS + CSP</a:t>
            </a:r>
            <a:endParaRPr lang="ru-RU" sz="1700" b="1" dirty="0">
              <a:solidFill>
                <a:srgbClr val="F7FAFC"/>
              </a:solidFill>
              <a:latin typeface="Bahnschrift SemiBold SemiConden" panose="020B0502040204020203" pitchFamily="34" charset="0"/>
              <a:ea typeface="Aptos" pitchFamily="34" charset="-122"/>
              <a:cs typeface="Aptos" pitchFamily="34" charset="-120"/>
            </a:endParaRPr>
          </a:p>
          <a:p>
            <a:pPr algn="ctr"/>
            <a:r>
              <a:rPr lang="ru-RU" sz="1400" dirty="0">
                <a:solidFill>
                  <a:srgbClr val="A7B3C7"/>
                </a:solidFill>
                <a:latin typeface="Bahnschrift SemiBold SemiConden" panose="020B0502040204020203" pitchFamily="34" charset="0"/>
                <a:ea typeface="Aptos" pitchFamily="34" charset="-122"/>
                <a:cs typeface="Aptos" pitchFamily="34" charset="-120"/>
              </a:rPr>
              <a:t>дополнительная безопасность от атак + стандартное экранирование</a:t>
            </a:r>
            <a:r>
              <a:rPr lang="en-US" sz="17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98848" y="1664208"/>
            <a:ext cx="3337560" cy="960120"/>
          </a:xfrm>
          <a:prstGeom prst="rect">
            <a:avLst/>
          </a:prstGeom>
          <a:solidFill>
            <a:srgbClr val="101A2F"/>
          </a:solidFill>
          <a:ln>
            <a:solidFill>
              <a:srgbClr val="46D4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AFC"/>
                </a:solidFill>
                <a:latin typeface="Bahnschrift SemiBold SemiConden" panose="020B0502040204020203" pitchFamily="34" charset="0"/>
                <a:ea typeface="Aptos" pitchFamily="34" charset="-122"/>
                <a:cs typeface="Aptos" pitchFamily="34" charset="-120"/>
              </a:rPr>
              <a:t>HttpOnly CSRF/session
</a:t>
            </a:r>
            <a:r>
              <a:rPr lang="en-US" sz="1700" dirty="0">
                <a:solidFill>
                  <a:srgbClr val="A7B3C7"/>
                </a:solidFill>
                <a:latin typeface="Bahnschrift SemiBold SemiConden" panose="020B0502040204020203" pitchFamily="34" charset="0"/>
                <a:ea typeface="Aptos" pitchFamily="34" charset="-122"/>
                <a:cs typeface="Aptos" pitchFamily="34" charset="-120"/>
              </a:rPr>
              <a:t>не localStorage</a:t>
            </a:r>
            <a:endParaRPr lang="en-US" sz="1700" dirty="0">
              <a:latin typeface="Bahnschrift SemiBold SemiConden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47888" y="1664208"/>
            <a:ext cx="3337560" cy="960120"/>
          </a:xfrm>
          <a:prstGeom prst="rect">
            <a:avLst/>
          </a:prstGeom>
          <a:solidFill>
            <a:srgbClr val="101A2F"/>
          </a:solidFill>
          <a:ln>
            <a:solidFill>
              <a:srgbClr val="FFC8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AFC"/>
                </a:solidFill>
                <a:latin typeface="Bahnschrift SemiBold SemiConden" panose="020B0502040204020203" pitchFamily="34" charset="0"/>
                <a:ea typeface="Aptos" pitchFamily="34" charset="-122"/>
                <a:cs typeface="Aptos" pitchFamily="34" charset="-120"/>
              </a:rPr>
              <a:t>Rate limit ×2
</a:t>
            </a:r>
            <a:r>
              <a:rPr lang="en-US" sz="1700" dirty="0">
                <a:solidFill>
                  <a:srgbClr val="A7B3C7"/>
                </a:solidFill>
                <a:latin typeface="Bahnschrift SemiBold SemiConden" panose="020B0502040204020203" pitchFamily="34" charset="0"/>
                <a:ea typeface="Aptos" pitchFamily="34" charset="-122"/>
                <a:cs typeface="Aptos" pitchFamily="34" charset="-120"/>
              </a:rPr>
              <a:t>Nginx + backend</a:t>
            </a:r>
            <a:endParaRPr lang="en-US" sz="1700" dirty="0">
              <a:latin typeface="Bahnschrift SemiBold SemiConden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808" y="3081528"/>
            <a:ext cx="3337560" cy="960120"/>
          </a:xfrm>
          <a:prstGeom prst="rect">
            <a:avLst/>
          </a:prstGeom>
          <a:solidFill>
            <a:srgbClr val="101A2F"/>
          </a:solidFill>
          <a:ln>
            <a:solidFill>
              <a:srgbClr val="FF9F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queue/backpressure
</a:t>
            </a:r>
            <a:r>
              <a:rPr lang="en-US" sz="1700" dirty="0" err="1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контроль</a:t>
            </a:r>
            <a:r>
              <a:rPr lang="en-US" sz="17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700" dirty="0" err="1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нагрузки</a:t>
            </a:r>
            <a:r>
              <a:rPr lang="en-US" sz="17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ru-RU" sz="17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</a:t>
            </a:r>
            <a:r>
              <a:rPr lang="en-US" sz="1700" dirty="0" err="1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r>
              <a:rPr lang="en-US" sz="17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ru-RU" sz="17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гигачата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98848" y="3081528"/>
            <a:ext cx="3337560" cy="960120"/>
          </a:xfrm>
          <a:prstGeom prst="rect">
            <a:avLst/>
          </a:prstGeom>
          <a:solidFill>
            <a:srgbClr val="101A2F"/>
          </a:solidFill>
          <a:ln>
            <a:solidFill>
              <a:srgbClr val="B88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WebSocket + Redis
</a:t>
            </a:r>
            <a:r>
              <a:rPr lang="en-US" sz="17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realtime-панель учителя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47888" y="3081528"/>
            <a:ext cx="3337560" cy="960120"/>
          </a:xfrm>
          <a:prstGeom prst="rect">
            <a:avLst/>
          </a:prstGeom>
          <a:solidFill>
            <a:srgbClr val="101A2F"/>
          </a:solidFill>
          <a:ln>
            <a:solidFill>
              <a:srgbClr val="FF6B6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k6 до 30 VU
</a:t>
            </a:r>
            <a:r>
              <a:rPr lang="en-US" sz="17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 требования класса</a:t>
            </a:r>
            <a:endParaRPr lang="en-US" sz="17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26DFD79E-8E64-CD00-4CB1-A94F9B01EA1E}"/>
              </a:ext>
            </a:extLst>
          </p:cNvPr>
          <p:cNvSpPr/>
          <p:nvPr/>
        </p:nvSpPr>
        <p:spPr>
          <a:xfrm>
            <a:off x="704088" y="44988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F7FAFC"/>
                </a:solidFill>
                <a:latin typeface="Bahnschrift SemiBold SemiConden" panose="020B0502040204020203" pitchFamily="34" charset="0"/>
                <a:ea typeface="Aptos Display" pitchFamily="34" charset="-122"/>
                <a:cs typeface="Aptos Display" pitchFamily="34" charset="-120"/>
              </a:rPr>
              <a:t>AbortController</a:t>
            </a:r>
            <a:r>
              <a:rPr lang="en-US" sz="1200" dirty="0">
                <a:solidFill>
                  <a:srgbClr val="F7FAFC"/>
                </a:solidFill>
                <a:latin typeface="Bahnschrift SemiBold SemiConden" panose="020B0502040204020203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ru-RU" sz="1200" dirty="0">
                <a:solidFill>
                  <a:srgbClr val="F7FAFC"/>
                </a:solidFill>
                <a:latin typeface="Bahnschrift SemiBold SemiConden" panose="020B0502040204020203" pitchFamily="34" charset="0"/>
                <a:ea typeface="Aptos Display" pitchFamily="34" charset="-122"/>
                <a:cs typeface="Aptos Display" pitchFamily="34" charset="-120"/>
              </a:rPr>
              <a:t>при фильтрах </a:t>
            </a:r>
            <a:r>
              <a:rPr lang="en-US" sz="1200" dirty="0">
                <a:solidFill>
                  <a:srgbClr val="F7FAFC"/>
                </a:solidFill>
                <a:latin typeface="Bahnschrift SemiBold SemiConden" panose="020B0502040204020203" pitchFamily="34" charset="0"/>
                <a:ea typeface="Aptos Display" pitchFamily="34" charset="-122"/>
                <a:cs typeface="Aptos Display" pitchFamily="34" charset="-120"/>
              </a:rPr>
              <a:t>&amp;</a:t>
            </a:r>
            <a:r>
              <a:rPr lang="ru-RU" sz="1200" dirty="0">
                <a:solidFill>
                  <a:srgbClr val="F7FAFC"/>
                </a:solidFill>
                <a:latin typeface="Bahnschrift SemiBold SemiConden" panose="020B0502040204020203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200" dirty="0">
                <a:solidFill>
                  <a:srgbClr val="F7FAFC"/>
                </a:solidFill>
                <a:latin typeface="Bahnschrift SemiBold SemiConden" panose="020B0502040204020203" pitchFamily="34" charset="0"/>
                <a:ea typeface="Aptos Display" pitchFamily="34" charset="-122"/>
                <a:cs typeface="Aptos Display" pitchFamily="34" charset="-120"/>
              </a:rPr>
              <a:t>CI </a:t>
            </a:r>
            <a:r>
              <a:rPr lang="ru-RU" sz="1200" dirty="0">
                <a:solidFill>
                  <a:srgbClr val="F7FAFC"/>
                </a:solidFill>
                <a:latin typeface="Bahnschrift SemiBold SemiConden" panose="020B0502040204020203" pitchFamily="34" charset="0"/>
                <a:ea typeface="Aptos Display" pitchFamily="34" charset="-122"/>
                <a:cs typeface="Aptos Display" pitchFamily="34" charset="-120"/>
              </a:rPr>
              <a:t>тесты в гите</a:t>
            </a:r>
            <a:endParaRPr lang="en-US" sz="1200" dirty="0">
              <a:latin typeface="Bahnschrift SemiBold SemiConden" panose="020B0502040204020203" pitchFamily="34" charset="0"/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0FAB1DC9-3F65-C770-8C52-EEC8B72EC005}"/>
              </a:ext>
            </a:extLst>
          </p:cNvPr>
          <p:cNvSpPr/>
          <p:nvPr/>
        </p:nvSpPr>
        <p:spPr>
          <a:xfrm>
            <a:off x="704088" y="49423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FAFC"/>
                </a:solidFill>
                <a:latin typeface="Bahnschrift SemiBold SemiConden" panose="020B0502040204020203" pitchFamily="34" charset="0"/>
                <a:ea typeface="Aptos Display" pitchFamily="34" charset="-122"/>
                <a:cs typeface="Aptos Display" pitchFamily="34" charset="-120"/>
              </a:rPr>
              <a:t>Lighthouse </a:t>
            </a:r>
            <a:endParaRPr lang="en-US" sz="1200" dirty="0">
              <a:latin typeface="Bahnschrift SemiBold SemiConden" panose="020B0502040204020203" pitchFamily="34" charset="0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F9F8B2A4-A40D-9577-14B3-6DEBC423A7A3}"/>
              </a:ext>
            </a:extLst>
          </p:cNvPr>
          <p:cNvSpPr/>
          <p:nvPr/>
        </p:nvSpPr>
        <p:spPr>
          <a:xfrm>
            <a:off x="704088" y="532286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sz="1200" dirty="0">
                <a:solidFill>
                  <a:srgbClr val="F7FAFC"/>
                </a:solidFill>
                <a:latin typeface="Bahnschrift SemiBold SemiConden" panose="020B0502040204020203" pitchFamily="34" charset="0"/>
                <a:ea typeface="Aptos Display" pitchFamily="34" charset="-122"/>
                <a:cs typeface="Aptos Display" pitchFamily="34" charset="-120"/>
              </a:rPr>
              <a:t>Чат учеников автоматически очищается если больше 99 сообщений. Для генерации исползуется </a:t>
            </a:r>
            <a:r>
              <a:rPr lang="en-US" sz="1200" dirty="0">
                <a:solidFill>
                  <a:srgbClr val="F7FAFC"/>
                </a:solidFill>
                <a:latin typeface="Bahnschrift SemiBold SemiConden" panose="020B0502040204020203" pitchFamily="34" charset="0"/>
                <a:ea typeface="Aptos Display" pitchFamily="34" charset="-122"/>
                <a:cs typeface="Aptos Display" pitchFamily="34" charset="-120"/>
              </a:rPr>
              <a:t>light</a:t>
            </a:r>
            <a:r>
              <a:rPr lang="ru-RU" sz="1200" dirty="0">
                <a:solidFill>
                  <a:srgbClr val="F7FAFC"/>
                </a:solidFill>
                <a:latin typeface="Bahnschrift SemiBold SemiConden" panose="020B0502040204020203" pitchFamily="34" charset="0"/>
                <a:ea typeface="Aptos Display" pitchFamily="34" charset="-122"/>
                <a:cs typeface="Aptos Display" pitchFamily="34" charset="-120"/>
              </a:rPr>
              <a:t>, для изображений </a:t>
            </a:r>
            <a:r>
              <a:rPr lang="en-US" sz="1200" dirty="0">
                <a:solidFill>
                  <a:srgbClr val="F7FAFC"/>
                </a:solidFill>
                <a:latin typeface="Bahnschrift SemiBold SemiConden" panose="020B0502040204020203" pitchFamily="34" charset="0"/>
                <a:ea typeface="Aptos Display" pitchFamily="34" charset="-122"/>
                <a:cs typeface="Aptos Display" pitchFamily="34" charset="-120"/>
              </a:rPr>
              <a:t>Pro </a:t>
            </a:r>
            <a:r>
              <a:rPr lang="ru-RU" sz="1200" dirty="0">
                <a:solidFill>
                  <a:srgbClr val="F7FAFC"/>
                </a:solidFill>
                <a:latin typeface="Bahnschrift SemiBold SemiConden" panose="020B0502040204020203" pitchFamily="34" charset="0"/>
                <a:ea typeface="Aptos Display" pitchFamily="34" charset="-122"/>
                <a:cs typeface="Aptos Display" pitchFamily="34" charset="-120"/>
              </a:rPr>
              <a:t>версия</a:t>
            </a:r>
            <a:r>
              <a:rPr lang="en-US" sz="1200" dirty="0">
                <a:solidFill>
                  <a:srgbClr val="F7FAFC"/>
                </a:solidFill>
                <a:latin typeface="Bahnschrift SemiBold SemiConden" panose="020B0502040204020203" pitchFamily="34" charset="0"/>
                <a:ea typeface="Aptos Display" pitchFamily="34" charset="-122"/>
                <a:cs typeface="Aptos Display" pitchFamily="34" charset="-120"/>
              </a:rPr>
              <a:t> </a:t>
            </a:r>
            <a:endParaRPr lang="en-US" sz="1200" dirty="0">
              <a:latin typeface="Bahnschrift SemiBold SemiConden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Timeout + retry: устойчивость при сбоях AI provider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2E42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2286000" cy="731520"/>
          </a:xfrm>
          <a:prstGeom prst="rect">
            <a:avLst/>
          </a:prstGeom>
          <a:solidFill>
            <a:srgbClr val="101A2F"/>
          </a:solidFill>
          <a:ln>
            <a:solidFill>
              <a:srgbClr val="32D1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/api/generate
</a:t>
            </a:r>
            <a:r>
              <a:rPr lang="en-US" sz="16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запрос ученика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63240" y="2057400"/>
            <a:ext cx="731520" cy="0"/>
          </a:xfrm>
          <a:prstGeom prst="line">
            <a:avLst/>
          </a:prstGeom>
          <a:noFill/>
          <a:ln w="12700">
            <a:solidFill>
              <a:srgbClr val="2E426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840480" y="1691640"/>
            <a:ext cx="1828800" cy="731520"/>
          </a:xfrm>
          <a:prstGeom prst="rect">
            <a:avLst/>
          </a:prstGeom>
          <a:solidFill>
            <a:srgbClr val="16213A"/>
          </a:solidFill>
          <a:ln>
            <a:solidFill>
              <a:srgbClr val="FFC8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client
</a:t>
            </a:r>
            <a:r>
              <a:rPr lang="en-US" sz="16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 60s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057400"/>
            <a:ext cx="731520" cy="0"/>
          </a:xfrm>
          <a:prstGeom prst="line">
            <a:avLst/>
          </a:prstGeom>
          <a:noFill/>
          <a:ln w="12700">
            <a:solidFill>
              <a:srgbClr val="2E426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537960" y="1691640"/>
            <a:ext cx="2103120" cy="731520"/>
          </a:xfrm>
          <a:prstGeom prst="rect">
            <a:avLst/>
          </a:prstGeom>
          <a:solidFill>
            <a:srgbClr val="16213A"/>
          </a:solidFill>
          <a:ln>
            <a:solidFill>
              <a:srgbClr val="46D48A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once
</a:t>
            </a:r>
            <a:r>
              <a:rPr lang="en-US" sz="16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экспоненциальная задержка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732520" y="2057400"/>
            <a:ext cx="731520" cy="0"/>
          </a:xfrm>
          <a:prstGeom prst="line">
            <a:avLst/>
          </a:prstGeom>
          <a:noFill/>
          <a:ln w="12700">
            <a:solidFill>
              <a:srgbClr val="2E426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509760" y="1691640"/>
            <a:ext cx="1920240" cy="731520"/>
          </a:xfrm>
          <a:prstGeom prst="rect">
            <a:avLst/>
          </a:prstGeom>
          <a:solidFill>
            <a:srgbClr val="101A2F"/>
          </a:solidFill>
          <a:ln>
            <a:solidFill>
              <a:srgbClr val="FF6B6B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User-facing error
</a:t>
            </a:r>
            <a:r>
              <a:rPr lang="en-US" sz="16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понятное сообщение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3063240" cy="914400"/>
          </a:xfrm>
          <a:prstGeom prst="rect">
            <a:avLst/>
          </a:prstGeom>
          <a:solidFill>
            <a:srgbClr val="1D2B4A"/>
          </a:solidFill>
          <a:ln>
            <a:solidFill>
              <a:srgbClr val="FFC8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
</a:t>
            </a:r>
            <a:r>
              <a:rPr lang="en-US" sz="16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держим соединение бесконечно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474720"/>
            <a:ext cx="3063240" cy="914400"/>
          </a:xfrm>
          <a:prstGeom prst="rect">
            <a:avLst/>
          </a:prstGeom>
          <a:solidFill>
            <a:srgbClr val="1D2B4A"/>
          </a:solidFill>
          <a:ln>
            <a:solidFill>
              <a:srgbClr val="46D4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1×
</a:t>
            </a:r>
            <a:r>
              <a:rPr lang="en-US" sz="16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сглаживаем краткий сбой провайдера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3474720"/>
            <a:ext cx="3063240" cy="914400"/>
          </a:xfrm>
          <a:prstGeom prst="rect">
            <a:avLst/>
          </a:prstGeom>
          <a:solidFill>
            <a:srgbClr val="1D2B4A"/>
          </a:solidFill>
          <a:ln>
            <a:solidFill>
              <a:srgbClr val="FF6B6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error
</a:t>
            </a:r>
            <a:r>
              <a:rPr lang="en-US" sz="16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пользователь видит понятный результат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2823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64282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ru-KZ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318867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Realtime analytics: WebSocket + Redis Pub/Sub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4628" y="3749040"/>
            <a:ext cx="11064240" cy="0"/>
          </a:xfrm>
          <a:prstGeom prst="line">
            <a:avLst/>
          </a:prstGeom>
          <a:noFill/>
          <a:ln w="12700">
            <a:solidFill>
              <a:srgbClr val="2E42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1920240" cy="822960"/>
          </a:xfrm>
          <a:prstGeom prst="rect">
            <a:avLst/>
          </a:prstGeom>
          <a:solidFill>
            <a:srgbClr val="101A2F"/>
          </a:solidFill>
          <a:ln>
            <a:solidFill>
              <a:srgbClr val="32D1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chat
</a:t>
            </a:r>
            <a:r>
              <a:rPr lang="en-US" sz="16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новый запрос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97480" y="2240280"/>
            <a:ext cx="1051560" cy="0"/>
          </a:xfrm>
          <a:prstGeom prst="line">
            <a:avLst/>
          </a:prstGeom>
          <a:noFill/>
          <a:ln w="12700">
            <a:solidFill>
              <a:srgbClr val="2E426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94760" y="1828800"/>
            <a:ext cx="1920240" cy="822960"/>
          </a:xfrm>
          <a:prstGeom prst="rect">
            <a:avLst/>
          </a:prstGeom>
          <a:solidFill>
            <a:srgbClr val="16213A"/>
          </a:solidFill>
          <a:ln>
            <a:solidFill>
              <a:srgbClr val="46D4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
</a:t>
            </a:r>
            <a:r>
              <a:rPr lang="en-US" sz="16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логирует событие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06440" y="2240280"/>
            <a:ext cx="1097280" cy="0"/>
          </a:xfrm>
          <a:prstGeom prst="line">
            <a:avLst/>
          </a:prstGeom>
          <a:noFill/>
          <a:ln w="12700">
            <a:solidFill>
              <a:srgbClr val="2E426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949440" y="1828800"/>
            <a:ext cx="2194560" cy="822960"/>
          </a:xfrm>
          <a:prstGeom prst="rect">
            <a:avLst/>
          </a:prstGeom>
          <a:solidFill>
            <a:srgbClr val="16213A"/>
          </a:solidFill>
          <a:ln>
            <a:solidFill>
              <a:srgbClr val="B88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 Pub/Sub
</a:t>
            </a:r>
            <a:r>
              <a:rPr lang="en-US" sz="16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fan-out между инстансами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235440" y="2240280"/>
            <a:ext cx="960120" cy="0"/>
          </a:xfrm>
          <a:prstGeom prst="line">
            <a:avLst/>
          </a:prstGeom>
          <a:noFill/>
          <a:ln w="12700">
            <a:solidFill>
              <a:srgbClr val="2E426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241280" y="1828800"/>
            <a:ext cx="1508760" cy="822960"/>
          </a:xfrm>
          <a:prstGeom prst="rect">
            <a:avLst/>
          </a:prstGeom>
          <a:solidFill>
            <a:srgbClr val="101A2F"/>
          </a:solidFill>
          <a:ln>
            <a:solidFill>
              <a:srgbClr val="FFC8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 panel
</a:t>
            </a:r>
            <a:r>
              <a:rPr lang="en-US" sz="130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новый лог без refresh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37490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6858000" y="4315968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875520" y="37490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875520" y="4315968"/>
            <a:ext cx="1828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31DC9380-3244-1185-3B29-0998060799AF}"/>
              </a:ext>
            </a:extLst>
          </p:cNvPr>
          <p:cNvSpPr/>
          <p:nvPr/>
        </p:nvSpPr>
        <p:spPr>
          <a:xfrm>
            <a:off x="685800" y="3931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F7FAFC"/>
                </a:solidFill>
                <a:latin typeface="Aptos Display" pitchFamily="34" charset="0"/>
              </a:rPr>
              <a:t>Масштабируемость</a:t>
            </a:r>
            <a:endParaRPr lang="en-US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90545782-ECD1-4C2D-067E-5550DD710AFF}"/>
              </a:ext>
            </a:extLst>
          </p:cNvPr>
          <p:cNvSpPr/>
          <p:nvPr/>
        </p:nvSpPr>
        <p:spPr>
          <a:xfrm>
            <a:off x="685800" y="4594861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Protected WebSocket: нельзя подключиться к чужой комнате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ru-KZ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Слоистая backend-архитектура: легче тестировать и расширять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17220" y="3859940"/>
            <a:ext cx="11064240" cy="0"/>
          </a:xfrm>
          <a:prstGeom prst="line">
            <a:avLst/>
          </a:prstGeom>
          <a:noFill/>
          <a:ln w="12700">
            <a:solidFill>
              <a:srgbClr val="2E42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1691640" cy="822960"/>
          </a:xfrm>
          <a:prstGeom prst="rect">
            <a:avLst/>
          </a:prstGeom>
          <a:solidFill>
            <a:srgbClr val="101A2F"/>
          </a:solidFill>
          <a:ln>
            <a:solidFill>
              <a:srgbClr val="32D1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
</a:t>
            </a:r>
            <a:r>
              <a:rPr lang="en-US" sz="14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+ middleware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697480" y="2240280"/>
            <a:ext cx="365760" cy="0"/>
          </a:xfrm>
          <a:prstGeom prst="line">
            <a:avLst/>
          </a:prstGeom>
          <a:noFill/>
          <a:ln w="12700">
            <a:solidFill>
              <a:srgbClr val="2E426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154680" y="1828800"/>
            <a:ext cx="1691640" cy="822960"/>
          </a:xfrm>
          <a:prstGeom prst="rect">
            <a:avLst/>
          </a:prstGeom>
          <a:solidFill>
            <a:srgbClr val="16213A"/>
          </a:solidFill>
          <a:ln>
            <a:solidFill>
              <a:srgbClr val="46D4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
</a:t>
            </a:r>
            <a:r>
              <a:rPr lang="en-US" sz="14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request/response DTO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846320" y="2240280"/>
            <a:ext cx="365760" cy="0"/>
          </a:xfrm>
          <a:prstGeom prst="line">
            <a:avLst/>
          </a:prstGeom>
          <a:noFill/>
          <a:ln w="12700">
            <a:solidFill>
              <a:srgbClr val="2E426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303520" y="1828800"/>
            <a:ext cx="1691640" cy="822960"/>
          </a:xfrm>
          <a:prstGeom prst="rect">
            <a:avLst/>
          </a:prstGeom>
          <a:solidFill>
            <a:srgbClr val="101A2F"/>
          </a:solidFill>
          <a:ln>
            <a:solidFill>
              <a:srgbClr val="FFC8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cases
</a:t>
            </a:r>
            <a:r>
              <a:rPr lang="en-US" sz="14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бизнес-сценарий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995160" y="2240280"/>
            <a:ext cx="365760" cy="0"/>
          </a:xfrm>
          <a:prstGeom prst="line">
            <a:avLst/>
          </a:prstGeom>
          <a:noFill/>
          <a:ln w="12700">
            <a:solidFill>
              <a:srgbClr val="2E426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452360" y="1828800"/>
            <a:ext cx="1691640" cy="822960"/>
          </a:xfrm>
          <a:prstGeom prst="rect">
            <a:avLst/>
          </a:prstGeom>
          <a:solidFill>
            <a:srgbClr val="16213A"/>
          </a:solidFill>
          <a:ln>
            <a:solidFill>
              <a:srgbClr val="B88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
</a:t>
            </a:r>
            <a:r>
              <a:rPr lang="en-US" sz="14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AI, CSRF, WS, rate limit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0" y="2240280"/>
            <a:ext cx="365760" cy="0"/>
          </a:xfrm>
          <a:prstGeom prst="line">
            <a:avLst/>
          </a:prstGeom>
          <a:noFill/>
          <a:ln w="12700">
            <a:solidFill>
              <a:srgbClr val="2E4265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601200" y="1828800"/>
            <a:ext cx="1691640" cy="822960"/>
          </a:xfrm>
          <a:prstGeom prst="rect">
            <a:avLst/>
          </a:prstGeom>
          <a:solidFill>
            <a:srgbClr val="101A2F"/>
          </a:solidFill>
          <a:ln>
            <a:solidFill>
              <a:srgbClr val="FF6B6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Repositories
</a:t>
            </a:r>
            <a:r>
              <a:rPr lang="en-US" sz="1450" dirty="0">
                <a:solidFill>
                  <a:srgbClr val="A7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/ PostgreSQL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3429000"/>
            <a:ext cx="3657600" cy="30175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3429000"/>
            <a:ext cx="3657600" cy="30175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642823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412480" y="64282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5F574B29-794B-74C8-2D21-9F5B67256104}"/>
              </a:ext>
            </a:extLst>
          </p:cNvPr>
          <p:cNvSpPr/>
          <p:nvPr/>
        </p:nvSpPr>
        <p:spPr>
          <a:xfrm>
            <a:off x="617220" y="3970841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7FAFC"/>
                </a:solidFill>
                <a:latin typeface="Aptos Display" pitchFamily="34" charset="0"/>
              </a:rPr>
              <a:t>Docker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216</Words>
  <Application>Microsoft Office PowerPoint</Application>
  <PresentationFormat>Widescreen</PresentationFormat>
  <Paragraphs>38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Bahnschrift SemiBold SemiConden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Лаборатория ИИ — архитектурные решения</dc:title>
  <dc:subject>Лаборатория ИИ — архитектурные решения</dc:subject>
  <dc:creator>ChatGPT</dc:creator>
  <cp:lastModifiedBy>zmanovskiy.n.v@gmail.com</cp:lastModifiedBy>
  <cp:revision>7</cp:revision>
  <dcterms:created xsi:type="dcterms:W3CDTF">2026-05-25T18:54:05Z</dcterms:created>
  <dcterms:modified xsi:type="dcterms:W3CDTF">2026-05-26T20:08:52Z</dcterms:modified>
</cp:coreProperties>
</file>